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una tesis clara para ambos públicos: la obra necesita control operativo y lectura digital. Conectar expectativas del empresario (ROI) y del estudiante (empleabilidad).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Marcar tiempos desde el inicio genera expectativa y orden. Confirmar que habrá demo real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Aterrizar contexto local: no hablar de IA abstracta, hablar de presión real de caja, plazo y reputación.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Conectar con dolor operativo del sector: retraso detectado tarde = costo financiero y contractual.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Definir capa digital como proceso de gestión, no como software aislado.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Hablar en lenguaje de negocio: riesgo, productividad, cumplimiento y reputación.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motivacional con realismo: la tecnología amplía el rol del ingeniero, no lo elimina.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caso como simulación práctica para el demo: datos razonables y decisiones tipo comité de obra.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credibilidad financiera y operativa. Mostrar por qué un retraso técnico se vuelve riesgo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Enseñar lectura causal: cómo varias señales pequeñas producen un desvío mayor.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Aclarar que la IA no reemplaza la planificación: prioriza dónde actuar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Mantener promesa realista: CV ayuda a detectar y priorizar, la validación final es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Subrayar colaboración multidisciplinaria: el valor aparece cuando áreas comparten el mismo dato.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acción concreta: empezar pequeño, medir impacto, luego escalar.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Invitar al público a aterrizar un caso propio: qué decisión crítica mejorarían mañana si integran datos de campo y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Más allá de la maquinaria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EXPOMAQSER 2026 | Guayaquil | Estudiantes + sector constructor e inmobiliario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6217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La ventaja competitiva en 2026 no está solo en equipos: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63093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D96"/>
                </a:solidFill>
              </a:defRPr>
            </a:pPr>
            <a:r>
              <a:t>está en cómo conectamos campo, datos, software e IA para tomar mejores decisiones.</a:t>
            </a:r>
          </a:p>
        </p:txBody>
      </p:sp>
      <p:pic>
        <p:nvPicPr>
          <p:cNvPr id="7" name="Picture 6" descr="op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63040"/>
            <a:ext cx="41148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334"/>
                </a:solidFill>
              </a:defRPr>
            </a:pPr>
            <a:r>
              <a:t>Ruta de la charla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C79"/>
                </a:solidFill>
              </a:defRPr>
            </a:pPr>
            <a:r>
              <a:t>30 min charla + 10 min demo + 5 min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6629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42C36"/>
                </a:solidFill>
              </a:defRPr>
            </a:pPr>
            <a:r>
              <a:t>• Bloque 1 (10 min): desafíos reales de construcción y real estate en Guayaquil.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Bloque 2 (10 min): capa digital, datos operativos e IA aplicada.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Bloque 3 (10 min): caso Torre Santiago, decisiones y plan de adopción.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Demo (10 min): tablero + alerta predictiva + recomendación accionable.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Q&amp;A (5 min): cómo arrancar en universidad y en empresa este año.</a:t>
            </a:r>
          </a:p>
        </p:txBody>
      </p:sp>
      <p:pic>
        <p:nvPicPr>
          <p:cNvPr id="6" name="Picture 5" descr="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25880"/>
            <a:ext cx="416052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C79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334"/>
                </a:solidFill>
              </a:defRPr>
            </a:pPr>
            <a:r>
              <a:t>Guayaquil hoy: presión por ejecutar mejor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C79"/>
                </a:solidFill>
              </a:defRPr>
            </a:pPr>
            <a:r>
              <a:t>Más demanda, más escrutinio, menos margen para improvisar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6629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42C36"/>
                </a:solidFill>
              </a:defRPr>
            </a:pPr>
            <a:r>
              <a:t>• El mercado exige plazos confiables para proyectos residenciales, mixtos y logísticos.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Los sobrecostos impactan rentabilidad del desarrollador y flujo del contratista.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Proveedores necesitan previsibilidad de compras para no romper cadena de suministro.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La coordinación entre diseño, obra y comercial sigue siendo un cuello de botella.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Resultado: quien controla datos y decisiones, controla el negocio.</a:t>
            </a:r>
          </a:p>
        </p:txBody>
      </p:sp>
      <p:pic>
        <p:nvPicPr>
          <p:cNvPr id="6" name="Picture 5" descr="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25880"/>
            <a:ext cx="416052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C79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334"/>
                </a:solidFill>
              </a:defRPr>
            </a:pPr>
            <a:r>
              <a:t>El costo oculto de la fragmentación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C79"/>
                </a:solidFill>
              </a:defRPr>
            </a:pPr>
            <a:r>
              <a:t>Tenemos datos, pero dispersos en múltiples silos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6629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42C36"/>
                </a:solidFill>
              </a:defRPr>
            </a:pPr>
            <a:r>
              <a:t>• Cronograma vive en un archivo; avance real, en fotos y chats.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Costos y compras se analizan tarde, cuando el desvío ya ocurrió.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Riesgos de seguridad se reportan sin trazabilidad comparativa.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Dirección recibe reportes semanales, no señales tempranas diarias.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Sin integración, reaccionamos tarde y pagamos más.</a:t>
            </a:r>
          </a:p>
        </p:txBody>
      </p:sp>
      <p:pic>
        <p:nvPicPr>
          <p:cNvPr id="6" name="Picture 5" descr="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25880"/>
            <a:ext cx="416052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C79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334"/>
                </a:solidFill>
              </a:defRPr>
            </a:pPr>
            <a:r>
              <a:t>Qué llamamos ‘capa digital’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C79"/>
                </a:solidFill>
              </a:defRPr>
            </a:pPr>
            <a:r>
              <a:t>Un sistema para pasar de dato suelto a decisión de obra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6629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42C36"/>
                </a:solidFill>
              </a:defRPr>
            </a:pPr>
            <a:r>
              <a:t>• Captura: maquinaria, partes diarios, BIM, clima, fotos de campo.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Integración: un modelo de datos común por frente, actividad y costo.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Analítica: indicadores de productividad, seguridad, avance y desvío.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IA: alertas predictivas y explicación de causas probables.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Acción: reunión de control con decisiones trazables y responsables.</a:t>
            </a:r>
          </a:p>
        </p:txBody>
      </p:sp>
      <p:pic>
        <p:nvPicPr>
          <p:cNvPr id="6" name="Picture 5" descr="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25880"/>
            <a:ext cx="416052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C79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334"/>
                </a:solidFill>
              </a:defRPr>
            </a:pPr>
            <a:r>
              <a:t>Valor para industria: ROI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C79"/>
                </a:solidFill>
              </a:defRPr>
            </a:pPr>
            <a:r>
              <a:t>Desarrolladores, contratistas y proveedores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6629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42C36"/>
                </a:solidFill>
              </a:defRPr>
            </a:pPr>
            <a:r>
              <a:t>• Menos retrasos críticos por alertas tempranas en ruta de obra.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Mayor productividad al detectar frentes subutilizados.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Menos reprocesos por mejor coordinación diseño-campo.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Mejor seguridad con monitoreo de comportamientos de riesgo.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Más confianza para inversionistas por trazabilidad y control.</a:t>
            </a:r>
          </a:p>
        </p:txBody>
      </p:sp>
      <p:pic>
        <p:nvPicPr>
          <p:cNvPr id="6" name="Picture 5" descr="op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25880"/>
            <a:ext cx="416052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C79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334"/>
                </a:solidFill>
              </a:defRPr>
            </a:pPr>
            <a:r>
              <a:t>Valor para estudiantes: empleabilidad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C79"/>
                </a:solidFill>
              </a:defRPr>
            </a:pPr>
            <a:r>
              <a:t>Perfil híbrido Civil + Sistemas como ventaja profesional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6629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42C36"/>
                </a:solidFill>
              </a:defRPr>
            </a:pPr>
            <a:r>
              <a:t>• Comprender obra + modelar datos = perfil altamente demandado.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Nuevos roles: planner analítico, coordinador BIM-datos, PM digital.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Competencias clave: SQL, dashboards, lectura de KPIs de obra, IA aplicada.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La práctica profesional migrará de reporte manual a gestión asistida por datos.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No reemplazo: mayor capacidad de criterio técnico y liderazgo.</a:t>
            </a:r>
          </a:p>
        </p:txBody>
      </p:sp>
      <p:pic>
        <p:nvPicPr>
          <p:cNvPr id="6" name="Picture 5" descr="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25880"/>
            <a:ext cx="416052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C79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Caso de estudio: Torre Santiago (ficticio, plausible)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Edificio residencial de 22 niveles en Guayaquil norte</a:t>
            </a:r>
          </a:p>
        </p:txBody>
      </p:sp>
      <p:pic>
        <p:nvPicPr>
          <p:cNvPr id="5" name="Picture 4" descr="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20"/>
            <a:ext cx="1101852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334"/>
                </a:solidFill>
              </a:defRPr>
            </a:pPr>
            <a:r>
              <a:t>Torre Santiago: línea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C79"/>
                </a:solidFill>
              </a:defRPr>
            </a:pPr>
            <a:r>
              <a:t>Semana 24 de un plan de 14 meses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6629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42C36"/>
                </a:solidFill>
              </a:defRPr>
            </a:pPr>
            <a:r>
              <a:t>• Presupuesto contractual: USD 14.8 millones.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Avance planificado: 58% | avance real: 49%.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Equipos críticos: grúa torre, bomba de hormigón, encofrado.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Incidentes de seguridad leves: 6 (meta trimestral: &lt;=2).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Riesgo de caja: certificación del hito comercial en 5 semanas.</a:t>
            </a:r>
          </a:p>
        </p:txBody>
      </p:sp>
      <p:pic>
        <p:nvPicPr>
          <p:cNvPr id="6" name="Picture 5" descr="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25880"/>
            <a:ext cx="416052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C79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334"/>
                </a:solidFill>
              </a:defRPr>
            </a:pPr>
            <a:r>
              <a:t>Qué revela la capa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C79"/>
                </a:solidFill>
              </a:defRPr>
            </a:pPr>
            <a:r>
              <a:t>Cruce de productividad, clima y secuencia crítica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6629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42C36"/>
                </a:solidFill>
              </a:defRPr>
            </a:pPr>
            <a:r>
              <a:t>• Frente de estructura con productividad -11% por interferencias logísticas.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Disponibilidad de bomba de hormigón cayó a 78% durante 3 semanas.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Compras de acero con variabilidad de entrega (+5 días promedio).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Retrabajos en losas por coordinación tardía de instalaciones.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Conclusión: el retraso no es una causa única, sino un patrón sistémico.</a:t>
            </a:r>
          </a:p>
        </p:txBody>
      </p:sp>
      <p:pic>
        <p:nvPicPr>
          <p:cNvPr id="6" name="Picture 5" descr="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25880"/>
            <a:ext cx="416052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334"/>
                </a:solidFill>
              </a:defRPr>
            </a:pPr>
            <a:r>
              <a:t>IA predictiva: alerta temprana accionable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C79"/>
                </a:solidFill>
              </a:defRPr>
            </a:pPr>
            <a:r>
              <a:t>Modelo estima probabilidad de incumplir hito de semana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6629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42C36"/>
                </a:solidFill>
              </a:defRPr>
            </a:pPr>
            <a:r>
              <a:t>• Riesgo estimado de atraso del hito: 76% (señal alta).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Factores explicativos: productividad, disponibilidad de equipo y secuencia crítica.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Ventana de intervención: próximas 2 semanas.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Escenario recomendado: reforzar cuadrilla + reprogramar vaciados nocturnos.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Impacto esperado: recuperar 4 a 6 puntos de avance en 6 semanas.</a:t>
            </a:r>
          </a:p>
        </p:txBody>
      </p:sp>
      <p:pic>
        <p:nvPicPr>
          <p:cNvPr id="6" name="Picture 5" descr="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25880"/>
            <a:ext cx="416052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334"/>
                </a:solidFill>
              </a:defRPr>
            </a:pPr>
            <a:r>
              <a:t>Computer Vision en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C79"/>
                </a:solidFill>
              </a:defRPr>
            </a:pPr>
            <a:r>
              <a:t>Del video de obra a alertas de seguridad y progreso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6629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42C36"/>
                </a:solidFill>
              </a:defRPr>
            </a:pPr>
            <a:r>
              <a:t>• Detección de uso de EPP en zonas definidas de riesgo.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Conteo de avance visual por elemento construido vs. BIM.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Identificación de zonas congestionadas para optimizar logística.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Reporte automático diario para jefatura de obra y HSE.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Beneficio: supervisión más consistente sin depender solo del recorrido manual.</a:t>
            </a:r>
          </a:p>
        </p:txBody>
      </p:sp>
      <p:pic>
        <p:nvPicPr>
          <p:cNvPr id="6" name="Picture 5" descr="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25880"/>
            <a:ext cx="416052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334"/>
                </a:solidFill>
              </a:defRPr>
            </a:pPr>
            <a:r>
              <a:t>Decisión integrada: comité semanal con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C79"/>
                </a:solidFill>
              </a:defRPr>
            </a:pPr>
            <a:r>
              <a:t>Civil + Sistemas + Finanzas + Operaciones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6629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42C36"/>
                </a:solidFill>
              </a:defRPr>
            </a:pPr>
            <a:r>
              <a:t>• Dato común: una sola versión de cronograma, costo y avance.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Priorización por impacto económico y riesgo contractual.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Asignación clara de responsables y fechas de cierre.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Seguimiento de cumplimiento con tablero ejecutivo.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Resultado: menos discusión subjetiva, más ejecución coordinada.</a:t>
            </a:r>
          </a:p>
        </p:txBody>
      </p:sp>
      <p:pic>
        <p:nvPicPr>
          <p:cNvPr id="6" name="Picture 5" descr="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25880"/>
            <a:ext cx="416052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C7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334"/>
                </a:solidFill>
              </a:defRPr>
            </a:pPr>
            <a:r>
              <a:t>Plan de adopción en 90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6C79"/>
                </a:solidFill>
              </a:defRPr>
            </a:pPr>
            <a:r>
              <a:t>Piloto realista para empresa o alianza universidad-industria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6629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42C36"/>
                </a:solidFill>
              </a:defRPr>
            </a:pPr>
            <a:r>
              <a:t>• Semana 1-2: definir caso prioritario (retraso, seguridad o productividad).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Semana 3-5: conectar fuentes mínimas de datos y tablero operativo.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Semana 6-8: correr modelo predictivo y validar con equipo de obra.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Semana 9-12: medir ROI (tiempo, costo, incidentes, retrabajo).</a:t>
            </a:r>
          </a:p>
          <a:p>
            <a:pPr>
              <a:spcAft>
                <a:spcPts val="1200"/>
              </a:spcAft>
              <a:defRPr sz="1900">
                <a:solidFill>
                  <a:srgbClr val="242C36"/>
                </a:solidFill>
              </a:defRPr>
            </a:pPr>
            <a:r>
              <a:t>• Escalamiento: estandarizar metodología para nuevos proyectos.</a:t>
            </a:r>
          </a:p>
        </p:txBody>
      </p:sp>
      <p:pic>
        <p:nvPicPr>
          <p:cNvPr id="6" name="Picture 5" descr="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25880"/>
            <a:ext cx="416052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C7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La próxima ventaja competitiva en construcción ecuatoriana será técnico-digital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5836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No se trata de tener más datos.</a:t>
            </a:r>
          </a:p>
          <a:p>
            <a:pPr>
              <a:defRPr sz="3400" b="1">
                <a:solidFill>
                  <a:srgbClr val="008D96"/>
                </a:solidFill>
              </a:defRPr>
            </a:pPr>
            <a:r>
              <a:t>Se trata de convertirlos en decisiones a tiempo.</a:t>
            </a:r>
          </a:p>
        </p:txBody>
      </p:sp>
      <p:pic>
        <p:nvPicPr>
          <p:cNvPr id="6" name="Picture 5" descr="op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554480"/>
            <a:ext cx="384048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800600"/>
            <a:ext cx="6400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Siguiente: demo en vivo (10 min) + preguntas (5 min).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46520"/>
            <a:ext cx="11018520" cy="18288"/>
          </a:xfrm>
          <a:prstGeom prst="rect">
            <a:avLst/>
          </a:prstGeom>
          <a:solidFill>
            <a:srgbClr val="008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